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2" r:id="rId14"/>
    <p:sldId id="270" r:id="rId15"/>
    <p:sldId id="271" r:id="rId16"/>
    <p:sldId id="273" r:id="rId17"/>
    <p:sldId id="275" r:id="rId18"/>
    <p:sldId id="274" r:id="rId1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35000" b="35000"/>
          <a:stretch>
            <a:fillRect/>
          </a:stretch>
        </p:blipFill>
        <p:spPr>
          <a:xfrm>
            <a:off x="0" y="0"/>
            <a:ext cx="16230600" cy="9118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30600" cy="9118600"/>
          </a:xfrm>
          <a:prstGeom prst="rect">
            <a:avLst/>
          </a:prstGeom>
          <a:solidFill>
            <a:srgbClr val="FFFFFF">
              <a:alpha val="60000"/>
            </a:srgbClr>
          </a:solidFill>
        </p:spPr>
      </p:sp>
      <p:sp>
        <p:nvSpPr>
          <p:cNvPr id="6" name="TextBox 6"/>
          <p:cNvSpPr txBox="1"/>
          <p:nvPr/>
        </p:nvSpPr>
        <p:spPr>
          <a:xfrm>
            <a:off x="876300" y="32004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900" b="1">
                <a:solidFill>
                  <a:srgbClr val="FFFFFF"/>
                </a:solidFill>
                <a:latin typeface="Poppins"/>
              </a:rPr>
              <a:t>Fraud Guard AI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42291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A Hybrid Machine Learning Approach for Credit Card Fraud Detection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76300" y="49022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Real-time, Privacy-Preserving, and Scalable Financial Security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120900"/>
            <a:ext cx="14490700" cy="5765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120900"/>
            <a:ext cx="4660900" cy="57658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130300" y="2374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7" name="AutoShape 7"/>
          <p:cNvSpPr/>
          <p:nvPr/>
        </p:nvSpPr>
        <p:spPr>
          <a:xfrm>
            <a:off x="5791200" y="2120900"/>
            <a:ext cx="4660900" cy="57658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6045200" y="2374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9" name="AutoShape 9"/>
          <p:cNvSpPr/>
          <p:nvPr/>
        </p:nvSpPr>
        <p:spPr>
          <a:xfrm>
            <a:off x="10706100" y="2120900"/>
            <a:ext cx="4660900" cy="57658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10960100" y="2374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11" name="TextBox 11"/>
          <p:cNvSpPr txBox="1"/>
          <p:nvPr/>
        </p:nvSpPr>
        <p:spPr>
          <a:xfrm>
            <a:off x="876300" y="1231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Abstract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33782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Context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33782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Core Problem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33782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Our Solution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4013200"/>
            <a:ext cx="41529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Digital transactions are increasing, leading to a rise in financial fraud.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5200" y="4013200"/>
            <a:ext cx="41529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Imbalanced data (fraud is rare) makes detection difficult for traditional systems.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214100" y="40259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A Hybrid Machine Learning System combining: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214100" y="49784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Supervised (Random Forest for known patterns)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214100" y="59309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Unsupervised (Isolation Forest for anomalies)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214100" y="6896100"/>
            <a:ext cx="3898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Privacy preservation using PCA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833100" y="4089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0833100" y="5041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10833100" y="5994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833100" y="6946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84300" y="2628900"/>
            <a:ext cx="241300" cy="241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299200" y="2628900"/>
            <a:ext cx="241300" cy="241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 l="14000" r="14000"/>
          <a:stretch>
            <a:fillRect/>
          </a:stretch>
        </p:blipFill>
        <p:spPr>
          <a:xfrm>
            <a:off x="11239500" y="2628900"/>
            <a:ext cx="177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76300" y="2336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Background of the Study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876300" y="3543300"/>
            <a:ext cx="692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The Landscape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8432800" y="3543300"/>
            <a:ext cx="692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Limitations of Traditional Systems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1130300" y="4292600"/>
            <a:ext cx="6667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Rapid growth of digital banking and electronic payments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1130300" y="52451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Credit card fraud is a costly financial crime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686800" y="42926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Reliance on static rule-based mechanisms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686800" y="4864100"/>
            <a:ext cx="66675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Inability to scale with high transaction volumes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686800" y="5435600"/>
            <a:ext cx="6667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High False Negative rates (missing actual fraud) as fraudsters evolve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749300" y="435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49300" y="5308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305800" y="4356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305800" y="4927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305800" y="5499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768600"/>
            <a:ext cx="14490700" cy="4483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768600"/>
            <a:ext cx="3429000" cy="44831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130300" y="30226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7" name="AutoShape 7"/>
          <p:cNvSpPr/>
          <p:nvPr/>
        </p:nvSpPr>
        <p:spPr>
          <a:xfrm>
            <a:off x="4559300" y="2768600"/>
            <a:ext cx="3429000" cy="44831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813300" y="30226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9" name="AutoShape 9"/>
          <p:cNvSpPr/>
          <p:nvPr/>
        </p:nvSpPr>
        <p:spPr>
          <a:xfrm>
            <a:off x="8242300" y="2768600"/>
            <a:ext cx="3429000" cy="44831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496300" y="30226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11" name="AutoShape 11"/>
          <p:cNvSpPr/>
          <p:nvPr/>
        </p:nvSpPr>
        <p:spPr>
          <a:xfrm>
            <a:off x="11938000" y="2768600"/>
            <a:ext cx="3429000" cy="44831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2192000" y="30226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13" name="TextBox 13"/>
          <p:cNvSpPr txBox="1"/>
          <p:nvPr/>
        </p:nvSpPr>
        <p:spPr>
          <a:xfrm>
            <a:off x="876300" y="18796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Problem Statement: Key Challenges Identified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4025900"/>
            <a:ext cx="292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Imbalanced Data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813300" y="4025900"/>
            <a:ext cx="292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Evolving Tactics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496300" y="4025900"/>
            <a:ext cx="292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Privacy Concerns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192000" y="4025900"/>
            <a:ext cx="29210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Time-Criticality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5105400"/>
            <a:ext cx="29210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Fraudulent cases represent &lt;1% of transactions, biasing models toward safe predictions.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813300" y="51054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Fraudsters constantly change methods, bypassing static rules.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496300" y="51054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Handling sensitive financial data requires strict confidentiality.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192000" y="5105400"/>
            <a:ext cx="2921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Detection must happen in real-time to prevent loss.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1346200" y="3276600"/>
            <a:ext cx="304800" cy="241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67300" y="3276600"/>
            <a:ext cx="241300" cy="241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rcRect l="6000" r="6000"/>
          <a:stretch>
            <a:fillRect/>
          </a:stretch>
        </p:blipFill>
        <p:spPr>
          <a:xfrm>
            <a:off x="8763000" y="3276600"/>
            <a:ext cx="215900" cy="2413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2433300" y="32766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565400"/>
            <a:ext cx="14490700" cy="4229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565400"/>
            <a:ext cx="3619500" cy="4229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25654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4495800" y="2565400"/>
            <a:ext cx="3619500" cy="4229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495800" y="25654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8128000" y="2565400"/>
            <a:ext cx="3619500" cy="4229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128000" y="25654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" name="AutoShape 11"/>
          <p:cNvSpPr/>
          <p:nvPr/>
        </p:nvSpPr>
        <p:spPr>
          <a:xfrm>
            <a:off x="11747500" y="2565400"/>
            <a:ext cx="3619500" cy="4229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1747500" y="25654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565400"/>
            <a:ext cx="3619500" cy="990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565400"/>
            <a:ext cx="3619500" cy="990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2565400"/>
            <a:ext cx="3619500" cy="990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0" y="2565400"/>
            <a:ext cx="3619500" cy="9906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76300" y="16764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Comparative Study: Evolution of Solutions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" y="29210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38735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Rule-Based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4495800" y="29210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4749800" y="3873500"/>
            <a:ext cx="31115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Statistical (Logistic Regression)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128000" y="29210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3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69300" y="3873500"/>
            <a:ext cx="3111500" cy="1358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Machine Learning (Supervised)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747500" y="29210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4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2001500" y="38735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Unsupervised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30300" y="45085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Simple but rigid; fails against new attacks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4749800" y="5410200"/>
            <a:ext cx="311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Efficient but misses complex non-linear patterns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8369300" y="5410200"/>
            <a:ext cx="311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Random Forest/SVM are effective but need labeled data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2001500" y="45085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Good for anomalies but prone to false positives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76300" y="70739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Conclusion: A Hybrid approach is required to balance precision and adaptability.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263900"/>
            <a:ext cx="6921500" cy="3568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3263900"/>
            <a:ext cx="3327400" cy="35687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130300" y="3505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7" name="AutoShape 7"/>
          <p:cNvSpPr/>
          <p:nvPr/>
        </p:nvSpPr>
        <p:spPr>
          <a:xfrm>
            <a:off x="4470400" y="3263900"/>
            <a:ext cx="3327400" cy="35687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724400" y="3505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9" name="AutoShape 9"/>
          <p:cNvSpPr/>
          <p:nvPr/>
        </p:nvSpPr>
        <p:spPr>
          <a:xfrm>
            <a:off x="8432800" y="3263900"/>
            <a:ext cx="6921500" cy="3949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432800" y="3263900"/>
            <a:ext cx="3327400" cy="39497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1" name="AutoShape 11"/>
          <p:cNvSpPr/>
          <p:nvPr/>
        </p:nvSpPr>
        <p:spPr>
          <a:xfrm>
            <a:off x="8686800" y="3505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12" name="AutoShape 12"/>
          <p:cNvSpPr/>
          <p:nvPr/>
        </p:nvSpPr>
        <p:spPr>
          <a:xfrm>
            <a:off x="12026900" y="3263900"/>
            <a:ext cx="3327400" cy="39497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3" name="AutoShape 13"/>
          <p:cNvSpPr/>
          <p:nvPr/>
        </p:nvSpPr>
        <p:spPr>
          <a:xfrm>
            <a:off x="12280900" y="3505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14" name="TextBox 14"/>
          <p:cNvSpPr txBox="1"/>
          <p:nvPr/>
        </p:nvSpPr>
        <p:spPr>
          <a:xfrm>
            <a:off x="876300" y="1320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Justification of Proposed Solution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" y="2527300"/>
            <a:ext cx="692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Why Hybrid?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30300" y="4521200"/>
            <a:ext cx="2832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Random Forest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724400" y="4521200"/>
            <a:ext cx="2832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Isolation Forest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432800" y="2527300"/>
            <a:ext cx="692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Why PCA?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686800" y="4521200"/>
            <a:ext cx="28321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Regulatory Compliance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2280900" y="4521200"/>
            <a:ext cx="2832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PII Protection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30300" y="5067300"/>
            <a:ext cx="28321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Excellent for identifying known fraud patterns based on history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724400" y="5067300"/>
            <a:ext cx="28321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Specialized in outlier detection for new/unseen fraud types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686800" y="5448300"/>
            <a:ext cx="28321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Ensures data privacy by anonymizing sensitive customer attributes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2280900" y="5067300"/>
            <a:ext cx="28321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Protects PII while maintaining analytical power for fraud detection</a:t>
            </a:r>
            <a:endParaRPr lang="en-US" sz="1100"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1397000" y="3759200"/>
            <a:ext cx="215900" cy="2413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65700" y="3759200"/>
            <a:ext cx="241300" cy="241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40800" y="3759200"/>
            <a:ext cx="241300" cy="241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 l="6000" r="6000"/>
          <a:stretch>
            <a:fillRect/>
          </a:stretch>
        </p:blipFill>
        <p:spPr>
          <a:xfrm>
            <a:off x="12547600" y="3759200"/>
            <a:ext cx="2159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168400"/>
            <a:ext cx="14490700" cy="74422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168400"/>
            <a:ext cx="14490700" cy="3695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6350000" y="4889500"/>
            <a:ext cx="8940800" cy="12700"/>
          </a:xfrm>
          <a:prstGeom prst="roundRect">
            <a:avLst>
              <a:gd name="adj" fmla="val 50000"/>
            </a:avLst>
          </a:prstGeom>
          <a:solidFill>
            <a:srgbClr val="6870E7"/>
          </a:solidFill>
        </p:spPr>
      </p:sp>
      <p:sp>
        <p:nvSpPr>
          <p:cNvPr id="7" name="AutoShape 7"/>
          <p:cNvSpPr/>
          <p:nvPr/>
        </p:nvSpPr>
        <p:spPr>
          <a:xfrm>
            <a:off x="876300" y="4914900"/>
            <a:ext cx="14490700" cy="3695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8153400" y="8636000"/>
            <a:ext cx="7150100" cy="12700"/>
          </a:xfrm>
          <a:prstGeom prst="roundRect">
            <a:avLst>
              <a:gd name="adj" fmla="val 50000"/>
            </a:avLst>
          </a:prstGeom>
          <a:solidFill>
            <a:srgbClr val="6870E7"/>
          </a:solidFill>
        </p:spPr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2300" y="1168400"/>
            <a:ext cx="2654300" cy="36957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876300" y="5080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System Actors &amp; Use Cases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445000" y="2895600"/>
            <a:ext cx="2794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540500" y="2641600"/>
            <a:ext cx="34290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Poppins"/>
              </a:rPr>
              <a:t>Primary Actor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419600" y="6642100"/>
            <a:ext cx="2794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6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331200" y="5105400"/>
            <a:ext cx="6769100" cy="330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200" b="1">
                <a:solidFill>
                  <a:srgbClr val="FFFFFF"/>
                </a:solidFill>
                <a:latin typeface="Poppins"/>
              </a:rPr>
              <a:t>Key Use Cases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540500" y="3111500"/>
            <a:ext cx="34290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Poppins"/>
              </a:rPr>
              <a:t>Fraud Analyst (Bank Staff)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585200" y="5588000"/>
            <a:ext cx="65151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Poppins"/>
              </a:rPr>
              <a:t>Login: Secure access to the system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585200" y="6019800"/>
            <a:ext cx="65151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Poppins"/>
              </a:rPr>
              <a:t>Load Data: Import transaction CSVs for batch processing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585200" y="6731000"/>
            <a:ext cx="6515100" cy="279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Poppins"/>
              </a:rPr>
              <a:t>Train Models: Trigger the Hybrid training pipeline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585200" y="7162800"/>
            <a:ext cx="65151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Poppins"/>
              </a:rPr>
              <a:t>Monitor Dashboard: View real-time statistics and alerts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585200" y="7874000"/>
            <a:ext cx="65151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400" b="1">
                <a:solidFill>
                  <a:srgbClr val="FFFFFF"/>
                </a:solidFill>
                <a:latin typeface="Poppins"/>
              </a:rPr>
              <a:t>Live Scanner: Simulate specific transaction parameters to test sensitivity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8216900" y="56388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216900" y="60579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216900" y="67691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216900" y="72009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216900" y="7912100"/>
            <a:ext cx="241300" cy="17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4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651000"/>
            <a:ext cx="14490700" cy="6718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651000"/>
            <a:ext cx="36195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16510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4495800" y="1651000"/>
            <a:ext cx="36195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495800" y="16510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AutoShape 9"/>
          <p:cNvSpPr/>
          <p:nvPr/>
        </p:nvSpPr>
        <p:spPr>
          <a:xfrm>
            <a:off x="8128000" y="1651000"/>
            <a:ext cx="36195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128000" y="16510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1" name="AutoShape 11"/>
          <p:cNvSpPr/>
          <p:nvPr/>
        </p:nvSpPr>
        <p:spPr>
          <a:xfrm>
            <a:off x="11747500" y="1651000"/>
            <a:ext cx="36195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1747500" y="16510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3" name="AutoShape 13"/>
          <p:cNvSpPr/>
          <p:nvPr/>
        </p:nvSpPr>
        <p:spPr>
          <a:xfrm>
            <a:off x="876300" y="5041900"/>
            <a:ext cx="3619500" cy="331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AutoShape 14"/>
          <p:cNvSpPr/>
          <p:nvPr/>
        </p:nvSpPr>
        <p:spPr>
          <a:xfrm>
            <a:off x="876300" y="50419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AutoShape 15"/>
          <p:cNvSpPr/>
          <p:nvPr/>
        </p:nvSpPr>
        <p:spPr>
          <a:xfrm>
            <a:off x="4495800" y="5041900"/>
            <a:ext cx="3619500" cy="331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6" name="AutoShape 16"/>
          <p:cNvSpPr/>
          <p:nvPr/>
        </p:nvSpPr>
        <p:spPr>
          <a:xfrm>
            <a:off x="4495800" y="50419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7" name="AutoShape 17"/>
          <p:cNvSpPr/>
          <p:nvPr/>
        </p:nvSpPr>
        <p:spPr>
          <a:xfrm>
            <a:off x="8128000" y="5041900"/>
            <a:ext cx="3619500" cy="331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8" name="AutoShape 18"/>
          <p:cNvSpPr/>
          <p:nvPr/>
        </p:nvSpPr>
        <p:spPr>
          <a:xfrm>
            <a:off x="8128000" y="50419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651000"/>
            <a:ext cx="3619500" cy="990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1651000"/>
            <a:ext cx="3619500" cy="990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1651000"/>
            <a:ext cx="3619500" cy="990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0" y="1651000"/>
            <a:ext cx="3619500" cy="990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5041900"/>
            <a:ext cx="3619500" cy="990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5041900"/>
            <a:ext cx="3619500" cy="990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5041900"/>
            <a:ext cx="3619500" cy="9906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876300" y="7620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Data Flow Diagram (DFD): The Pipeline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76300" y="19939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130300" y="2959100"/>
            <a:ext cx="18034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Input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4495800" y="19939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4749800" y="29591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Preprocessing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128000" y="19939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3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8369300" y="2959100"/>
            <a:ext cx="31115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Feature Engineering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1747500" y="19939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4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2001500" y="29591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Core Detection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76300" y="53975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5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130300" y="63627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Path A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4495800" y="53975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6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4749800" y="63627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Path B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8128000" y="5397500"/>
            <a:ext cx="36195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7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8369300" y="63627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Output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1130300" y="3581400"/>
            <a:ext cx="1803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Raw CSV Data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4749800" y="3581400"/>
            <a:ext cx="311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Cleaning, Scaling, and Handling Imbalance (SMOTE)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8369300" y="40386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Preparing V1-V28 vectors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12001500" y="35814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Splits into two parallel paths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1130300" y="69850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Random Forest (Classification)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4749800" y="69850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Isolation Forest (Anomaly Detection)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8369300" y="6985000"/>
            <a:ext cx="311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Prediction Score &amp; Alert Generation on Dashboard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587500"/>
            <a:ext cx="14490700" cy="6845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587500"/>
            <a:ext cx="144907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4216400"/>
            <a:ext cx="14490700" cy="1587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876300" y="6261100"/>
            <a:ext cx="14490700" cy="2171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8"/>
          <p:cNvSpPr txBox="1"/>
          <p:nvPr/>
        </p:nvSpPr>
        <p:spPr>
          <a:xfrm>
            <a:off x="876300" y="6985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Technology Stack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76300" y="15875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Languages &amp; Frameworks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42164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Web &amp; API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76300" y="62611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Tools &amp; Libraries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22225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Python 3.10+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130300" y="28067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Scikit-Learn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33782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Imbalance-Learn (SMOTE)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48514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FastAPI (Model inference API)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30300" y="54356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Streamlit (Interactive Dashboard UI)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30300" y="69088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Joblib (Model serialization)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74803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Pandas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8064500"/>
            <a:ext cx="14236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NumPy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749300" y="2286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749300" y="28702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749300" y="3441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749300" y="4914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749300" y="54991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749300" y="69723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749300" y="75438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749300" y="81280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527300"/>
            <a:ext cx="14490700" cy="4953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527300"/>
            <a:ext cx="4660900" cy="49530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130300" y="2781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7" name="AutoShape 7"/>
          <p:cNvSpPr/>
          <p:nvPr/>
        </p:nvSpPr>
        <p:spPr>
          <a:xfrm>
            <a:off x="5791200" y="2527300"/>
            <a:ext cx="4660900" cy="49530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6045200" y="2781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9" name="AutoShape 9"/>
          <p:cNvSpPr/>
          <p:nvPr/>
        </p:nvSpPr>
        <p:spPr>
          <a:xfrm>
            <a:off x="10706100" y="2527300"/>
            <a:ext cx="4660900" cy="49530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10960100" y="27813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11" name="TextBox 11"/>
          <p:cNvSpPr txBox="1"/>
          <p:nvPr/>
        </p:nvSpPr>
        <p:spPr>
          <a:xfrm>
            <a:off x="876300" y="16383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Challenges &amp; Mitigation Strategies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37846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Imbalanced Data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37846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False Positives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37846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Evolving Tactics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4419600"/>
            <a:ext cx="4152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Problem: Fraud cases are extremely rare (&lt;1%).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30300" y="5346700"/>
            <a:ext cx="41529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Solution: Used SMOTE (Synthetic Minority Over-sampling Technique) and Isolation Forest to ensure rare fraud cases aren't ignored.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6045200" y="4419600"/>
            <a:ext cx="4152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Problem: Too many false alerts disrupt user experience.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6045200" y="53467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Solution: Implemented Probability Scores (Confidence Level) so analysts can prioritize high-risk alerts.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960100" y="4419600"/>
            <a:ext cx="41529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Problem: Fraudsters adapt continuously.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960100" y="5346700"/>
            <a:ext cx="41529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Solution: The Hybrid Model ensures if a specific fraud pattern isn't in training set, Anomaly detector still catches it.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1346200" y="3035300"/>
            <a:ext cx="304800" cy="241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rcRect t="11000" b="11000"/>
          <a:stretch>
            <a:fillRect/>
          </a:stretch>
        </p:blipFill>
        <p:spPr>
          <a:xfrm>
            <a:off x="6261100" y="3035300"/>
            <a:ext cx="304800" cy="241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11214100" y="30353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882900"/>
            <a:ext cx="14490700" cy="42545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882900"/>
            <a:ext cx="7112000" cy="42545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130300" y="3124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7" name="AutoShape 7"/>
          <p:cNvSpPr/>
          <p:nvPr/>
        </p:nvSpPr>
        <p:spPr>
          <a:xfrm>
            <a:off x="8242300" y="2882900"/>
            <a:ext cx="7112000" cy="42545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8496300" y="31242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9" name="TextBox 9"/>
          <p:cNvSpPr txBox="1"/>
          <p:nvPr/>
        </p:nvSpPr>
        <p:spPr>
          <a:xfrm>
            <a:off x="876300" y="1993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Testing &amp; Results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1130300" y="4140200"/>
            <a:ext cx="57531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Validation Strategy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496300" y="4140200"/>
            <a:ext cx="54102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Model Performance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384300" y="4775200"/>
            <a:ext cx="549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Data Split: 80% Training / 20% Testing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384300" y="5359400"/>
            <a:ext cx="549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Metrics: Recall (priority), Precision, F1-Score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384300" y="5930900"/>
            <a:ext cx="54991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Cross-Validation: k-fold (k=5)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50300" y="4775200"/>
            <a:ext cx="5156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Accuracy: 99%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50300" y="5359400"/>
            <a:ext cx="5156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Recall: 0.97 (97% fraud caught)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50300" y="5930900"/>
            <a:ext cx="5156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Precision: 0.85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50300" y="6515100"/>
            <a:ext cx="51562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False Negatives: Only 3% of fraud missed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003300" y="4838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003300" y="5422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03300" y="5994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8369300" y="48387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369300" y="54229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369300" y="59944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8369300" y="6578600"/>
            <a:ext cx="241300" cy="24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algn="ctr">
              <a:lnSpc>
                <a:spcPct val="100000"/>
              </a:lnSpc>
              <a:defRPr/>
            </a:pPr>
            <a:r>
              <a:rPr lang="en-US" sz="1900" b="0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ea typeface="Poppins"/>
              </a:rPr>
              <a:t>●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rcRect l="6000" r="6000"/>
          <a:stretch>
            <a:fillRect/>
          </a:stretch>
        </p:blipFill>
        <p:spPr>
          <a:xfrm>
            <a:off x="1397000" y="3378200"/>
            <a:ext cx="215900" cy="241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50300" y="33782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209800"/>
            <a:ext cx="14490700" cy="5588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209800"/>
            <a:ext cx="144907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4229100"/>
            <a:ext cx="144907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876300" y="6248400"/>
            <a:ext cx="144907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TextBox 8"/>
          <p:cNvSpPr txBox="1"/>
          <p:nvPr/>
        </p:nvSpPr>
        <p:spPr>
          <a:xfrm>
            <a:off x="876300" y="13208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Test Cases &amp; Simulation Scenarios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76300" y="22098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Scenario 1: Normal Transaction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42291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Scenario 2: High-Value Fraud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76300" y="6248400"/>
            <a:ext cx="144907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Scenario 3: Anomaly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76300" y="28448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Input: Low amount ($150), standard feature vectors, regular merchant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76300" y="33909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Result: PASS - Classified as Safe (confidence 0.04)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" y="48641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Input: Manipulated V-features, irregular amount ($2200), unusual location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" y="54102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Result: PASS - Flagged by Random Forest (confidence 0.88)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" y="68707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Input: Extreme statistical outliers, unusual pattern, rare combination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" y="74295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Result: PASS - Flagged by Isolation Forest (confidence 0.95)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032000"/>
            <a:ext cx="14490700" cy="5219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032000"/>
            <a:ext cx="14490700" cy="1447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876300" y="3911600"/>
            <a:ext cx="14490700" cy="1447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7" name="AutoShape 7"/>
          <p:cNvSpPr/>
          <p:nvPr/>
        </p:nvSpPr>
        <p:spPr>
          <a:xfrm>
            <a:off x="876300" y="5791200"/>
            <a:ext cx="14490700" cy="14478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876300" y="7518400"/>
            <a:ext cx="12700" cy="698500"/>
          </a:xfrm>
          <a:prstGeom prst="rect">
            <a:avLst/>
          </a:prstGeom>
          <a:solidFill>
            <a:srgbClr val="E0DAFF"/>
          </a:solidFill>
        </p:spPr>
      </p:sp>
      <p:sp>
        <p:nvSpPr>
          <p:cNvPr id="9" name="TextBox 9"/>
          <p:cNvSpPr txBox="1"/>
          <p:nvPr/>
        </p:nvSpPr>
        <p:spPr>
          <a:xfrm>
            <a:off x="876300" y="635000"/>
            <a:ext cx="144907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700" b="1">
                <a:solidFill>
                  <a:srgbClr val="FFFFFF"/>
                </a:solidFill>
                <a:latin typeface="Poppins"/>
              </a:rPr>
              <a:t>Live Prediction Examples: Sample Outputs from Dashboard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76300" y="2032000"/>
            <a:ext cx="14490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FFFFFF"/>
                </a:solidFill>
                <a:latin typeface="Poppins"/>
              </a:rPr>
              <a:t>Transaction ID 1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876300" y="3911600"/>
            <a:ext cx="14490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FFFFFF"/>
                </a:solidFill>
                <a:latin typeface="Poppins"/>
              </a:rPr>
              <a:t>Transaction ID 2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76300" y="5791200"/>
            <a:ext cx="144907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FFFFFF"/>
                </a:solidFill>
                <a:latin typeface="Poppins"/>
              </a:rPr>
              <a:t>Transaction ID 3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76300" y="2616200"/>
            <a:ext cx="14490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Amount </a:t>
            </a:r>
            <a:r>
              <a:rPr lang="en-US" sz="1600" b="1">
                <a:solidFill>
                  <a:srgbClr val="2ECC71"/>
                </a:solidFill>
                <a:latin typeface="Poppins"/>
              </a:rPr>
              <a:t>$150</a:t>
            </a:r>
            <a:r>
              <a:rPr lang="en-US" sz="1800" b="1">
                <a:solidFill>
                  <a:srgbClr val="FFFFFF"/>
                </a:solidFill>
                <a:latin typeface="Poppins"/>
              </a:rPr>
              <a:t> | Probability Score: 0.04 | Result: </a:t>
            </a:r>
            <a:r>
              <a:rPr lang="en-US" sz="1600" b="1">
                <a:solidFill>
                  <a:srgbClr val="2ECC71"/>
                </a:solidFill>
                <a:ea typeface="Poppins"/>
              </a:rPr>
              <a:t>✓ Legitimate (Safe)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76300" y="3136900"/>
            <a:ext cx="14490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1">
                <a:solidFill>
                  <a:srgbClr val="FFFFFF"/>
                </a:solidFill>
                <a:latin typeface="Poppins"/>
              </a:rPr>
              <a:t>Example of normal low-value transaction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876300" y="4508500"/>
            <a:ext cx="14490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Amount </a:t>
            </a:r>
            <a:r>
              <a:rPr lang="en-US" sz="1600" b="1">
                <a:solidFill>
                  <a:srgbClr val="E74C3C"/>
                </a:solidFill>
                <a:latin typeface="Poppins"/>
              </a:rPr>
              <a:t>$2,200</a:t>
            </a:r>
            <a:r>
              <a:rPr lang="en-US" sz="1800" b="1">
                <a:solidFill>
                  <a:srgbClr val="FFFFFF"/>
                </a:solidFill>
                <a:latin typeface="Poppins"/>
              </a:rPr>
              <a:t> | Probability Score: 0.88 | Result: </a:t>
            </a:r>
            <a:r>
              <a:rPr lang="en-US" sz="1600" b="1">
                <a:solidFill>
                  <a:srgbClr val="E74C3C"/>
                </a:solidFill>
                <a:ea typeface="Poppins"/>
              </a:rPr>
              <a:t>⚠️ Fraud Alert (Flagged)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76300" y="5016500"/>
            <a:ext cx="14490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1">
                <a:solidFill>
                  <a:srgbClr val="FFFFFF"/>
                </a:solidFill>
                <a:latin typeface="Poppins"/>
              </a:rPr>
              <a:t>Example of suspicious high-value transaction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876300" y="6388100"/>
            <a:ext cx="14490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Amount </a:t>
            </a:r>
            <a:r>
              <a:rPr lang="en-US" sz="1600" b="1">
                <a:solidFill>
                  <a:srgbClr val="E74C3C"/>
                </a:solidFill>
                <a:latin typeface="Poppins"/>
              </a:rPr>
              <a:t>$7,800</a:t>
            </a:r>
            <a:r>
              <a:rPr lang="en-US" sz="1800" b="1">
                <a:solidFill>
                  <a:srgbClr val="FFFFFF"/>
                </a:solidFill>
                <a:latin typeface="Poppins"/>
              </a:rPr>
              <a:t> | Probability Score: 0.95 | Result: </a:t>
            </a:r>
            <a:r>
              <a:rPr lang="en-US" sz="1600" b="1">
                <a:solidFill>
                  <a:srgbClr val="E74C3C"/>
                </a:solidFill>
                <a:ea typeface="Poppins"/>
              </a:rPr>
              <a:t>⚠️ Fraud Alert (High Confidence)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" y="6908800"/>
            <a:ext cx="14490700" cy="342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 i="1">
                <a:solidFill>
                  <a:srgbClr val="FFFFFF"/>
                </a:solidFill>
                <a:latin typeface="Poppins"/>
              </a:rPr>
              <a:t>Example of clear fraud case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30300" y="7518400"/>
            <a:ext cx="14236700" cy="69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This demonstrates the system's ability to assign nuanced confidence scores to transactions, helping analysts prioritize investigation resources.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3390900"/>
            <a:ext cx="14490700" cy="27940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5" name="AutoShape 5"/>
          <p:cNvSpPr/>
          <p:nvPr/>
        </p:nvSpPr>
        <p:spPr>
          <a:xfrm>
            <a:off x="889000" y="3403600"/>
            <a:ext cx="4902200" cy="546100"/>
          </a:xfrm>
          <a:prstGeom prst="rect">
            <a:avLst/>
          </a:prstGeom>
          <a:solidFill>
            <a:srgbClr val="4054C7">
              <a:alpha val="74902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6" name="AutoShape 6"/>
          <p:cNvSpPr/>
          <p:nvPr/>
        </p:nvSpPr>
        <p:spPr>
          <a:xfrm>
            <a:off x="5803900" y="3403600"/>
            <a:ext cx="2692400" cy="546100"/>
          </a:xfrm>
          <a:prstGeom prst="rect">
            <a:avLst/>
          </a:prstGeom>
          <a:solidFill>
            <a:srgbClr val="4054C7">
              <a:alpha val="74902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7" name="AutoShape 7"/>
          <p:cNvSpPr/>
          <p:nvPr/>
        </p:nvSpPr>
        <p:spPr>
          <a:xfrm>
            <a:off x="8496300" y="3403600"/>
            <a:ext cx="2578100" cy="546100"/>
          </a:xfrm>
          <a:prstGeom prst="rect">
            <a:avLst/>
          </a:prstGeom>
          <a:solidFill>
            <a:srgbClr val="4054C7">
              <a:alpha val="74902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8" name="AutoShape 8"/>
          <p:cNvSpPr/>
          <p:nvPr/>
        </p:nvSpPr>
        <p:spPr>
          <a:xfrm>
            <a:off x="11087100" y="3403600"/>
            <a:ext cx="1828800" cy="546100"/>
          </a:xfrm>
          <a:prstGeom prst="rect">
            <a:avLst/>
          </a:prstGeom>
          <a:solidFill>
            <a:srgbClr val="4054C7">
              <a:alpha val="74902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9" name="AutoShape 9"/>
          <p:cNvSpPr/>
          <p:nvPr/>
        </p:nvSpPr>
        <p:spPr>
          <a:xfrm>
            <a:off x="12915900" y="3403600"/>
            <a:ext cx="2425700" cy="546100"/>
          </a:xfrm>
          <a:prstGeom prst="rect">
            <a:avLst/>
          </a:prstGeom>
          <a:solidFill>
            <a:srgbClr val="4054C7">
              <a:alpha val="74902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0" name="AutoShape 10"/>
          <p:cNvSpPr/>
          <p:nvPr/>
        </p:nvSpPr>
        <p:spPr>
          <a:xfrm>
            <a:off x="889000" y="3962400"/>
            <a:ext cx="49022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1" name="AutoShape 11"/>
          <p:cNvSpPr/>
          <p:nvPr/>
        </p:nvSpPr>
        <p:spPr>
          <a:xfrm>
            <a:off x="5803900" y="3962400"/>
            <a:ext cx="26924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2" name="AutoShape 12"/>
          <p:cNvSpPr/>
          <p:nvPr/>
        </p:nvSpPr>
        <p:spPr>
          <a:xfrm>
            <a:off x="8496300" y="3962400"/>
            <a:ext cx="25781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3" name="AutoShape 13"/>
          <p:cNvSpPr/>
          <p:nvPr/>
        </p:nvSpPr>
        <p:spPr>
          <a:xfrm>
            <a:off x="11087100" y="3962400"/>
            <a:ext cx="18288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4" name="AutoShape 14"/>
          <p:cNvSpPr/>
          <p:nvPr/>
        </p:nvSpPr>
        <p:spPr>
          <a:xfrm>
            <a:off x="12915900" y="3962400"/>
            <a:ext cx="24257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5" name="AutoShape 15"/>
          <p:cNvSpPr/>
          <p:nvPr/>
        </p:nvSpPr>
        <p:spPr>
          <a:xfrm>
            <a:off x="889000" y="4521200"/>
            <a:ext cx="49022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6" name="AutoShape 16"/>
          <p:cNvSpPr/>
          <p:nvPr/>
        </p:nvSpPr>
        <p:spPr>
          <a:xfrm>
            <a:off x="5803900" y="4521200"/>
            <a:ext cx="26924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7" name="AutoShape 17"/>
          <p:cNvSpPr/>
          <p:nvPr/>
        </p:nvSpPr>
        <p:spPr>
          <a:xfrm>
            <a:off x="8496300" y="4521200"/>
            <a:ext cx="25781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8" name="AutoShape 18"/>
          <p:cNvSpPr/>
          <p:nvPr/>
        </p:nvSpPr>
        <p:spPr>
          <a:xfrm>
            <a:off x="11087100" y="4521200"/>
            <a:ext cx="18288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19" name="AutoShape 19"/>
          <p:cNvSpPr/>
          <p:nvPr/>
        </p:nvSpPr>
        <p:spPr>
          <a:xfrm>
            <a:off x="12915900" y="4521200"/>
            <a:ext cx="24257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0" name="AutoShape 20"/>
          <p:cNvSpPr/>
          <p:nvPr/>
        </p:nvSpPr>
        <p:spPr>
          <a:xfrm>
            <a:off x="889000" y="5067300"/>
            <a:ext cx="49022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1" name="AutoShape 21"/>
          <p:cNvSpPr/>
          <p:nvPr/>
        </p:nvSpPr>
        <p:spPr>
          <a:xfrm>
            <a:off x="5803900" y="5067300"/>
            <a:ext cx="26924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2" name="AutoShape 22"/>
          <p:cNvSpPr/>
          <p:nvPr/>
        </p:nvSpPr>
        <p:spPr>
          <a:xfrm>
            <a:off x="8496300" y="5067300"/>
            <a:ext cx="25781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3" name="AutoShape 23"/>
          <p:cNvSpPr/>
          <p:nvPr/>
        </p:nvSpPr>
        <p:spPr>
          <a:xfrm>
            <a:off x="11087100" y="5067300"/>
            <a:ext cx="18288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4" name="AutoShape 24"/>
          <p:cNvSpPr/>
          <p:nvPr/>
        </p:nvSpPr>
        <p:spPr>
          <a:xfrm>
            <a:off x="12915900" y="5067300"/>
            <a:ext cx="24257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5" name="AutoShape 25"/>
          <p:cNvSpPr/>
          <p:nvPr/>
        </p:nvSpPr>
        <p:spPr>
          <a:xfrm>
            <a:off x="889000" y="5626100"/>
            <a:ext cx="49022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6" name="AutoShape 26"/>
          <p:cNvSpPr/>
          <p:nvPr/>
        </p:nvSpPr>
        <p:spPr>
          <a:xfrm>
            <a:off x="5803900" y="5626100"/>
            <a:ext cx="26924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7" name="AutoShape 27"/>
          <p:cNvSpPr/>
          <p:nvPr/>
        </p:nvSpPr>
        <p:spPr>
          <a:xfrm>
            <a:off x="8496300" y="5626100"/>
            <a:ext cx="25781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8" name="AutoShape 28"/>
          <p:cNvSpPr/>
          <p:nvPr/>
        </p:nvSpPr>
        <p:spPr>
          <a:xfrm>
            <a:off x="11087100" y="5626100"/>
            <a:ext cx="18288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29" name="AutoShape 29"/>
          <p:cNvSpPr/>
          <p:nvPr/>
        </p:nvSpPr>
        <p:spPr>
          <a:xfrm>
            <a:off x="12915900" y="5626100"/>
            <a:ext cx="2425700" cy="546100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6870E7">
                <a:alpha val="72941"/>
              </a:srgbClr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76300" y="19050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Comparative Results Table: Model Performance Comparison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977900" y="3492500"/>
            <a:ext cx="4724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Model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5892800" y="3492500"/>
            <a:ext cx="251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Accuracy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585200" y="3492500"/>
            <a:ext cx="2413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Precision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1176000" y="3492500"/>
            <a:ext cx="1651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Recall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3004800" y="3492500"/>
            <a:ext cx="2247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F1-Score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977900" y="4051300"/>
            <a:ext cx="4724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2ECC71"/>
                </a:solidFill>
                <a:latin typeface="Poppins"/>
              </a:rPr>
              <a:t>Random Forest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5892800" y="4051300"/>
            <a:ext cx="251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2ECC71"/>
                </a:solidFill>
                <a:latin typeface="Poppins"/>
              </a:rPr>
              <a:t>0.992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8585200" y="4051300"/>
            <a:ext cx="2413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2ECC71"/>
                </a:solidFill>
                <a:latin typeface="Poppins"/>
              </a:rPr>
              <a:t>0.85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11176000" y="4051300"/>
            <a:ext cx="1651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2ECC71"/>
                </a:solidFill>
                <a:latin typeface="Poppins"/>
              </a:rPr>
              <a:t>0.97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3004800" y="4051300"/>
            <a:ext cx="2247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2ECC71"/>
                </a:solidFill>
                <a:latin typeface="Poppins"/>
              </a:rPr>
              <a:t>0.91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977900" y="4597400"/>
            <a:ext cx="4724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Logistic Regression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5892800" y="4597400"/>
            <a:ext cx="251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0.987</a:t>
            </a:r>
            <a:endParaRPr lang="en-US" sz="1100"/>
          </a:p>
        </p:txBody>
      </p:sp>
      <p:sp>
        <p:nvSpPr>
          <p:cNvPr id="43" name="TextBox 43"/>
          <p:cNvSpPr txBox="1"/>
          <p:nvPr/>
        </p:nvSpPr>
        <p:spPr>
          <a:xfrm>
            <a:off x="8585200" y="4597400"/>
            <a:ext cx="2413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0.72</a:t>
            </a:r>
            <a:endParaRPr lang="en-US" sz="1100"/>
          </a:p>
        </p:txBody>
      </p:sp>
      <p:sp>
        <p:nvSpPr>
          <p:cNvPr id="44" name="TextBox 44"/>
          <p:cNvSpPr txBox="1"/>
          <p:nvPr/>
        </p:nvSpPr>
        <p:spPr>
          <a:xfrm>
            <a:off x="11176000" y="4597400"/>
            <a:ext cx="1651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0.92</a:t>
            </a:r>
            <a:endParaRPr lang="en-US" sz="1100"/>
          </a:p>
        </p:txBody>
      </p:sp>
      <p:sp>
        <p:nvSpPr>
          <p:cNvPr id="45" name="TextBox 45"/>
          <p:cNvSpPr txBox="1"/>
          <p:nvPr/>
        </p:nvSpPr>
        <p:spPr>
          <a:xfrm>
            <a:off x="13004800" y="4597400"/>
            <a:ext cx="2247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0.81</a:t>
            </a:r>
            <a:endParaRPr lang="en-US" sz="1100"/>
          </a:p>
        </p:txBody>
      </p:sp>
      <p:sp>
        <p:nvSpPr>
          <p:cNvPr id="46" name="TextBox 46"/>
          <p:cNvSpPr txBox="1"/>
          <p:nvPr/>
        </p:nvSpPr>
        <p:spPr>
          <a:xfrm>
            <a:off x="977900" y="5156200"/>
            <a:ext cx="4724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XGBoost</a:t>
            </a:r>
            <a:endParaRPr lang="en-US" sz="1100"/>
          </a:p>
        </p:txBody>
      </p:sp>
      <p:sp>
        <p:nvSpPr>
          <p:cNvPr id="47" name="TextBox 47"/>
          <p:cNvSpPr txBox="1"/>
          <p:nvPr/>
        </p:nvSpPr>
        <p:spPr>
          <a:xfrm>
            <a:off x="5892800" y="5156200"/>
            <a:ext cx="251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0.993</a:t>
            </a:r>
            <a:endParaRPr lang="en-US" sz="1100"/>
          </a:p>
        </p:txBody>
      </p:sp>
      <p:sp>
        <p:nvSpPr>
          <p:cNvPr id="48" name="TextBox 48"/>
          <p:cNvSpPr txBox="1"/>
          <p:nvPr/>
        </p:nvSpPr>
        <p:spPr>
          <a:xfrm>
            <a:off x="8585200" y="5156200"/>
            <a:ext cx="2413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0.88</a:t>
            </a:r>
            <a:endParaRPr lang="en-US" sz="1100"/>
          </a:p>
        </p:txBody>
      </p:sp>
      <p:sp>
        <p:nvSpPr>
          <p:cNvPr id="49" name="TextBox 49"/>
          <p:cNvSpPr txBox="1"/>
          <p:nvPr/>
        </p:nvSpPr>
        <p:spPr>
          <a:xfrm>
            <a:off x="11176000" y="5156200"/>
            <a:ext cx="1651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0.95</a:t>
            </a:r>
            <a:endParaRPr lang="en-US" sz="1100"/>
          </a:p>
        </p:txBody>
      </p:sp>
      <p:sp>
        <p:nvSpPr>
          <p:cNvPr id="50" name="TextBox 50"/>
          <p:cNvSpPr txBox="1"/>
          <p:nvPr/>
        </p:nvSpPr>
        <p:spPr>
          <a:xfrm>
            <a:off x="13004800" y="5156200"/>
            <a:ext cx="2247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0.91</a:t>
            </a:r>
            <a:endParaRPr lang="en-US" sz="1100"/>
          </a:p>
        </p:txBody>
      </p:sp>
      <p:sp>
        <p:nvSpPr>
          <p:cNvPr id="51" name="TextBox 51"/>
          <p:cNvSpPr txBox="1"/>
          <p:nvPr/>
        </p:nvSpPr>
        <p:spPr>
          <a:xfrm>
            <a:off x="977900" y="5715000"/>
            <a:ext cx="47244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SVM</a:t>
            </a:r>
            <a:endParaRPr lang="en-US" sz="1100"/>
          </a:p>
        </p:txBody>
      </p:sp>
      <p:sp>
        <p:nvSpPr>
          <p:cNvPr id="52" name="TextBox 52"/>
          <p:cNvSpPr txBox="1"/>
          <p:nvPr/>
        </p:nvSpPr>
        <p:spPr>
          <a:xfrm>
            <a:off x="5892800" y="5715000"/>
            <a:ext cx="251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0.988</a:t>
            </a:r>
            <a:endParaRPr lang="en-US" sz="1100"/>
          </a:p>
        </p:txBody>
      </p:sp>
      <p:sp>
        <p:nvSpPr>
          <p:cNvPr id="53" name="TextBox 53"/>
          <p:cNvSpPr txBox="1"/>
          <p:nvPr/>
        </p:nvSpPr>
        <p:spPr>
          <a:xfrm>
            <a:off x="8585200" y="5715000"/>
            <a:ext cx="2413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0.80</a:t>
            </a:r>
            <a:endParaRPr lang="en-US" sz="1100"/>
          </a:p>
        </p:txBody>
      </p:sp>
      <p:sp>
        <p:nvSpPr>
          <p:cNvPr id="54" name="TextBox 54"/>
          <p:cNvSpPr txBox="1"/>
          <p:nvPr/>
        </p:nvSpPr>
        <p:spPr>
          <a:xfrm>
            <a:off x="11176000" y="5715000"/>
            <a:ext cx="1651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0.89</a:t>
            </a:r>
            <a:endParaRPr lang="en-US" sz="1100"/>
          </a:p>
        </p:txBody>
      </p:sp>
      <p:sp>
        <p:nvSpPr>
          <p:cNvPr id="55" name="TextBox 55"/>
          <p:cNvSpPr txBox="1"/>
          <p:nvPr/>
        </p:nvSpPr>
        <p:spPr>
          <a:xfrm>
            <a:off x="13004800" y="5715000"/>
            <a:ext cx="22479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0.84</a:t>
            </a:r>
            <a:endParaRPr lang="en-US" sz="1100"/>
          </a:p>
        </p:txBody>
      </p:sp>
      <p:sp>
        <p:nvSpPr>
          <p:cNvPr id="56" name="TextBox 56"/>
          <p:cNvSpPr txBox="1"/>
          <p:nvPr/>
        </p:nvSpPr>
        <p:spPr>
          <a:xfrm>
            <a:off x="876300" y="64770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 i="1">
                <a:solidFill>
                  <a:srgbClr val="FFFFFF"/>
                </a:solidFill>
                <a:latin typeface="Poppins"/>
              </a:rPr>
              <a:t>Random Forest offers the best balance of stability, high recall (fraud detection priority), and reasonable precision (minimizing false alerts).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460500"/>
            <a:ext cx="14490700" cy="70231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460500"/>
            <a:ext cx="3429000" cy="70231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155700" y="1689100"/>
            <a:ext cx="698500" cy="698500"/>
          </a:xfrm>
          <a:prstGeom prst="roundRect">
            <a:avLst>
              <a:gd name="adj" fmla="val 49090"/>
            </a:avLst>
          </a:prstGeom>
          <a:solidFill>
            <a:srgbClr val="93A5FF"/>
          </a:solidFill>
        </p:spPr>
      </p:sp>
      <p:sp>
        <p:nvSpPr>
          <p:cNvPr id="7" name="AutoShape 7"/>
          <p:cNvSpPr/>
          <p:nvPr/>
        </p:nvSpPr>
        <p:spPr>
          <a:xfrm>
            <a:off x="4559300" y="1460500"/>
            <a:ext cx="3429000" cy="70231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838700" y="1689100"/>
            <a:ext cx="698500" cy="698500"/>
          </a:xfrm>
          <a:prstGeom prst="roundRect">
            <a:avLst>
              <a:gd name="adj" fmla="val 49090"/>
            </a:avLst>
          </a:prstGeom>
          <a:solidFill>
            <a:srgbClr val="93A5FF"/>
          </a:solidFill>
        </p:spPr>
      </p:sp>
      <p:sp>
        <p:nvSpPr>
          <p:cNvPr id="9" name="AutoShape 9"/>
          <p:cNvSpPr/>
          <p:nvPr/>
        </p:nvSpPr>
        <p:spPr>
          <a:xfrm>
            <a:off x="8242300" y="1460500"/>
            <a:ext cx="3429000" cy="70231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521700" y="1689100"/>
            <a:ext cx="698500" cy="698500"/>
          </a:xfrm>
          <a:prstGeom prst="roundRect">
            <a:avLst>
              <a:gd name="adj" fmla="val 49090"/>
            </a:avLst>
          </a:prstGeom>
          <a:solidFill>
            <a:srgbClr val="93A5FF"/>
          </a:solidFill>
        </p:spPr>
      </p:sp>
      <p:sp>
        <p:nvSpPr>
          <p:cNvPr id="11" name="AutoShape 11"/>
          <p:cNvSpPr/>
          <p:nvPr/>
        </p:nvSpPr>
        <p:spPr>
          <a:xfrm>
            <a:off x="11938000" y="1460500"/>
            <a:ext cx="3429000" cy="70231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2217400" y="1689100"/>
            <a:ext cx="698500" cy="698500"/>
          </a:xfrm>
          <a:prstGeom prst="roundRect">
            <a:avLst>
              <a:gd name="adj" fmla="val 49090"/>
            </a:avLst>
          </a:prstGeom>
          <a:solidFill>
            <a:srgbClr val="93A5FF"/>
          </a:solidFill>
        </p:spPr>
      </p:sp>
      <p:sp>
        <p:nvSpPr>
          <p:cNvPr id="13" name="TextBox 13"/>
          <p:cNvSpPr txBox="1"/>
          <p:nvPr/>
        </p:nvSpPr>
        <p:spPr>
          <a:xfrm>
            <a:off x="876300" y="635000"/>
            <a:ext cx="14490700" cy="55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600" b="1">
                <a:solidFill>
                  <a:srgbClr val="FFFFFF"/>
                </a:solidFill>
                <a:latin typeface="Poppins"/>
              </a:rPr>
              <a:t>Analysis of Outcomes: Key Findings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130300" y="2628900"/>
            <a:ext cx="2921000" cy="125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FFFFFF"/>
                </a:solidFill>
                <a:latin typeface="Poppins"/>
              </a:rPr>
              <a:t>Hybrid Approach Effectiveness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4813300" y="2628900"/>
            <a:ext cx="2921000" cy="125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FFFFFF"/>
                </a:solidFill>
                <a:latin typeface="Poppins"/>
              </a:rPr>
              <a:t>Recall Prioritization Success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8496300" y="2628900"/>
            <a:ext cx="2921000" cy="125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FFFFFF"/>
                </a:solidFill>
                <a:latin typeface="Poppins"/>
              </a:rPr>
              <a:t>Real-Time Performance Validation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2192000" y="2628900"/>
            <a:ext cx="2921000" cy="838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FFFFFF"/>
                </a:solidFill>
                <a:latin typeface="Poppins"/>
              </a:rPr>
              <a:t>Privacy Maintained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30300" y="4051300"/>
            <a:ext cx="2921000" cy="420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The combination of Supervised (Random Forest) and Unsupervised (Isolation Forest) learning effectively bridges the gap between accuracy and adaptability, catching both known and novel fraud patterns.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813300" y="4051300"/>
            <a:ext cx="2921000" cy="209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Successfully achieved high Recall (97%), ensuring that financial risk is minimized by catching almost all actual fraud cases.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496300" y="4051300"/>
            <a:ext cx="2921000" cy="2095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Real-time Inference is functional with &lt;100ms latency, validating the system for production banking environments.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192000" y="3632200"/>
            <a:ext cx="2921000" cy="279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Privacy is protected through PCA anonymization without sacrificing predictive power - model achieves 99% accuracy on encrypted data.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rcRect l="3000" r="3000"/>
          <a:stretch>
            <a:fillRect/>
          </a:stretch>
        </p:blipFill>
        <p:spPr>
          <a:xfrm>
            <a:off x="1397000" y="1930400"/>
            <a:ext cx="215900" cy="228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rcRect l="3000" r="3000"/>
          <a:stretch>
            <a:fillRect/>
          </a:stretch>
        </p:blipFill>
        <p:spPr>
          <a:xfrm>
            <a:off x="5080000" y="1930400"/>
            <a:ext cx="215900" cy="228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rcRect l="3000" r="3000"/>
          <a:stretch>
            <a:fillRect/>
          </a:stretch>
        </p:blipFill>
        <p:spPr>
          <a:xfrm>
            <a:off x="8763000" y="1930400"/>
            <a:ext cx="215900" cy="228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rcRect l="3000" r="3000"/>
          <a:stretch>
            <a:fillRect/>
          </a:stretch>
        </p:blipFill>
        <p:spPr>
          <a:xfrm>
            <a:off x="12458700" y="1930400"/>
            <a:ext cx="2159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308100"/>
            <a:ext cx="14490700" cy="7251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308100"/>
            <a:ext cx="4826000" cy="3937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2463800" y="4419600"/>
            <a:ext cx="1651000" cy="1651000"/>
          </a:xfrm>
          <a:prstGeom prst="roundRect">
            <a:avLst>
              <a:gd name="adj" fmla="val 50000"/>
            </a:avLst>
          </a:prstGeom>
          <a:solidFill>
            <a:srgbClr val="4054C7"/>
          </a:solidFill>
        </p:spPr>
      </p:sp>
      <p:sp>
        <p:nvSpPr>
          <p:cNvPr id="7" name="AutoShape 7"/>
          <p:cNvSpPr/>
          <p:nvPr/>
        </p:nvSpPr>
        <p:spPr>
          <a:xfrm>
            <a:off x="3289300" y="5245100"/>
            <a:ext cx="4826000" cy="331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876800" y="4419600"/>
            <a:ext cx="1651000" cy="1651000"/>
          </a:xfrm>
          <a:prstGeom prst="roundRect">
            <a:avLst>
              <a:gd name="adj" fmla="val 50000"/>
            </a:avLst>
          </a:prstGeom>
          <a:solidFill>
            <a:srgbClr val="4054C7"/>
          </a:solidFill>
        </p:spPr>
      </p:sp>
      <p:sp>
        <p:nvSpPr>
          <p:cNvPr id="9" name="AutoShape 9"/>
          <p:cNvSpPr/>
          <p:nvPr/>
        </p:nvSpPr>
        <p:spPr>
          <a:xfrm>
            <a:off x="5702300" y="1308100"/>
            <a:ext cx="4826000" cy="3937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7289800" y="4419600"/>
            <a:ext cx="1651000" cy="1651000"/>
          </a:xfrm>
          <a:prstGeom prst="roundRect">
            <a:avLst>
              <a:gd name="adj" fmla="val 50000"/>
            </a:avLst>
          </a:prstGeom>
          <a:solidFill>
            <a:srgbClr val="4054C7"/>
          </a:solidFill>
        </p:spPr>
      </p:sp>
      <p:sp>
        <p:nvSpPr>
          <p:cNvPr id="11" name="AutoShape 11"/>
          <p:cNvSpPr/>
          <p:nvPr/>
        </p:nvSpPr>
        <p:spPr>
          <a:xfrm>
            <a:off x="8128000" y="5245100"/>
            <a:ext cx="4826000" cy="33147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9715500" y="4419600"/>
            <a:ext cx="1651000" cy="1651000"/>
          </a:xfrm>
          <a:prstGeom prst="roundRect">
            <a:avLst>
              <a:gd name="adj" fmla="val 50000"/>
            </a:avLst>
          </a:prstGeom>
          <a:solidFill>
            <a:srgbClr val="4054C7"/>
          </a:solidFill>
        </p:spPr>
      </p:sp>
      <p:sp>
        <p:nvSpPr>
          <p:cNvPr id="13" name="AutoShape 13"/>
          <p:cNvSpPr/>
          <p:nvPr/>
        </p:nvSpPr>
        <p:spPr>
          <a:xfrm>
            <a:off x="10541000" y="1308100"/>
            <a:ext cx="4826000" cy="39370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4" name="AutoShape 14"/>
          <p:cNvSpPr/>
          <p:nvPr/>
        </p:nvSpPr>
        <p:spPr>
          <a:xfrm>
            <a:off x="12128500" y="4419600"/>
            <a:ext cx="1651000" cy="1651000"/>
          </a:xfrm>
          <a:prstGeom prst="roundRect">
            <a:avLst>
              <a:gd name="adj" fmla="val 50000"/>
            </a:avLst>
          </a:prstGeom>
          <a:solidFill>
            <a:srgbClr val="4054C7"/>
          </a:solidFill>
        </p:spPr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900" y="5232400"/>
            <a:ext cx="2336800" cy="2336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216400"/>
            <a:ext cx="203200" cy="101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900" y="2921000"/>
            <a:ext cx="2336800" cy="2336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8000" y="6172200"/>
            <a:ext cx="203200" cy="101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900" y="5232400"/>
            <a:ext cx="2336800" cy="2336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700" y="4216400"/>
            <a:ext cx="203200" cy="101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9900" y="2921000"/>
            <a:ext cx="2336800" cy="23368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6700" y="6172200"/>
            <a:ext cx="203200" cy="101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900" y="5232400"/>
            <a:ext cx="2336800" cy="2336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700" y="4216400"/>
            <a:ext cx="203200" cy="1016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876300" y="571500"/>
            <a:ext cx="14490700" cy="495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FFFFFF"/>
                </a:solidFill>
                <a:latin typeface="Poppins"/>
              </a:rPr>
              <a:t>Future Work: Roadmap for Improvement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3225800" y="50927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1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30300" y="2006600"/>
            <a:ext cx="4318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API Integration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5613400" y="50927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2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3543300" y="6477000"/>
            <a:ext cx="4318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Deep Learning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8026400" y="50927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3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5956300" y="1371600"/>
            <a:ext cx="4318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Model Explainability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10426700" y="50927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4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369300" y="6477000"/>
            <a:ext cx="4318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Cloud Deployment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2852400" y="5092700"/>
            <a:ext cx="3048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Poppins"/>
              </a:rPr>
              <a:t>5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10795000" y="1689100"/>
            <a:ext cx="43180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Continuous Learning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1130300" y="2527300"/>
            <a:ext cx="43180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Connect to live banking transaction streams for real-time processing of actual banking operations instead of batch testing.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3543300" y="6997700"/>
            <a:ext cx="43180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Explore LSTM (Long Short-Term Memory) and Autoencoders for sequence analysis to detect fraud patterns evolving over transaction sequences.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5956300" y="1892300"/>
            <a:ext cx="4318000" cy="2184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Integrate SHAP (SHapley Additive exPlanations) or LIME (Local Interpretable Model-agnostic Explanations) to explain why specific transactions were flagged, improving analyst trust and understanding.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8369300" y="6997700"/>
            <a:ext cx="43180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Scale using AWS (SageMaker, Lambda) or Azure (Azure ML, Functions) for enterprise-grade infrastructure supporting millions of daily transactions.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10795000" y="2209800"/>
            <a:ext cx="4318000" cy="186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Implement automated retraining pipelines to update models with new fraud patterns as they emerge, maintaining system effectiveness against evolving threats.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028700"/>
            <a:ext cx="14490700" cy="69723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1028700"/>
            <a:ext cx="3429000" cy="49022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1257300" y="119380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93A5FF"/>
          </a:solidFill>
        </p:spPr>
      </p:sp>
      <p:sp>
        <p:nvSpPr>
          <p:cNvPr id="7" name="AutoShape 7"/>
          <p:cNvSpPr/>
          <p:nvPr/>
        </p:nvSpPr>
        <p:spPr>
          <a:xfrm>
            <a:off x="4559300" y="1028700"/>
            <a:ext cx="3429000" cy="49022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4940300" y="119380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93A5FF"/>
          </a:solidFill>
        </p:spPr>
      </p:sp>
      <p:sp>
        <p:nvSpPr>
          <p:cNvPr id="9" name="AutoShape 9"/>
          <p:cNvSpPr/>
          <p:nvPr/>
        </p:nvSpPr>
        <p:spPr>
          <a:xfrm>
            <a:off x="8242300" y="1028700"/>
            <a:ext cx="3429000" cy="49022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8636000" y="119380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93A5FF"/>
          </a:solidFill>
        </p:spPr>
      </p:sp>
      <p:sp>
        <p:nvSpPr>
          <p:cNvPr id="11" name="AutoShape 11"/>
          <p:cNvSpPr/>
          <p:nvPr/>
        </p:nvSpPr>
        <p:spPr>
          <a:xfrm>
            <a:off x="11938000" y="1028700"/>
            <a:ext cx="3429000" cy="49022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2" name="AutoShape 12"/>
          <p:cNvSpPr/>
          <p:nvPr/>
        </p:nvSpPr>
        <p:spPr>
          <a:xfrm>
            <a:off x="12319000" y="119380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93A5FF"/>
          </a:solidFill>
        </p:spPr>
      </p:sp>
      <p:sp>
        <p:nvSpPr>
          <p:cNvPr id="13" name="AutoShape 13"/>
          <p:cNvSpPr/>
          <p:nvPr/>
        </p:nvSpPr>
        <p:spPr>
          <a:xfrm>
            <a:off x="876300" y="6108700"/>
            <a:ext cx="14490700" cy="18923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4" name="AutoShape 14"/>
          <p:cNvSpPr/>
          <p:nvPr/>
        </p:nvSpPr>
        <p:spPr>
          <a:xfrm>
            <a:off x="1257300" y="6273800"/>
            <a:ext cx="482600" cy="482600"/>
          </a:xfrm>
          <a:prstGeom prst="roundRect">
            <a:avLst>
              <a:gd name="adj" fmla="val 50000"/>
            </a:avLst>
          </a:prstGeom>
          <a:solidFill>
            <a:srgbClr val="93A5FF"/>
          </a:solidFill>
        </p:spPr>
      </p:sp>
      <p:sp>
        <p:nvSpPr>
          <p:cNvPr id="15" name="TextBox 15"/>
          <p:cNvSpPr txBox="1"/>
          <p:nvPr/>
        </p:nvSpPr>
        <p:spPr>
          <a:xfrm>
            <a:off x="876300" y="444500"/>
            <a:ext cx="144907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FFFF"/>
                </a:solidFill>
                <a:latin typeface="Poppins"/>
              </a:rPr>
              <a:t>Conclusion: Summary of Achievements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30300" y="1854200"/>
            <a:ext cx="29210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Hybrid Architecture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813300" y="1854200"/>
            <a:ext cx="29210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Privacy-First Design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496300" y="1854200"/>
            <a:ext cx="29210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High Performance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2192000" y="1854200"/>
            <a:ext cx="2921000" cy="58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User-Centric Solution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30300" y="6934200"/>
            <a:ext cx="13982700" cy="29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Production-Ready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30300" y="2565400"/>
            <a:ext cx="2921000" cy="3213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Poppins"/>
              </a:rPr>
              <a:t>Successfully combined Supervised learning (Random Forest for known patterns) and Unsupervised learning (Isolation Forest for anomalies) into a cohesive dual-layer detection system that achieves 99% accuracy with 97% recall.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813300" y="2565400"/>
            <a:ext cx="2921000" cy="2717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Poppins"/>
              </a:rPr>
              <a:t>Utilized PCA to transform sensitive customer data into anonymized features (V1-V28), protecting user privacy while maintaining high predictive accuracy and ensuring regulatory compliance.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496300" y="2565400"/>
            <a:ext cx="2921000" cy="2463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Poppins"/>
              </a:rPr>
              <a:t>Achieved 99% accuracy, 97% recall, and 85% precision on test datasets, successfully prioritizing fraud detection over false alert minimization with &lt;100ms real-time inference latency.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2192000" y="2565400"/>
            <a:ext cx="2921000" cy="196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Poppins"/>
              </a:rPr>
              <a:t>Delivered a functional, interactive Streamlit dashboard for fraud analysts with intuitive visualization, real-time prediction capabilities, and probability-based decision support.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30300" y="7340600"/>
            <a:ext cx="13982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Poppins"/>
              </a:rPr>
              <a:t>System designed for enterprise deployment with cloud scalability (AWS/Azure), modular Python architecture, and robustness against evolving fraud tactics.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76300" y="8191500"/>
            <a:ext cx="14490700" cy="48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200" b="1">
                <a:solidFill>
                  <a:srgbClr val="FFFFFF"/>
                </a:solidFill>
                <a:latin typeface="Poppins"/>
              </a:rPr>
              <a:t>Key Takeaway: Fraud Guard AI represents a complete, secure, and effective solution for real-time credit card fraud detection in banking environments.</a:t>
            </a:r>
            <a:endParaRPr lang="en-US" sz="1100"/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3"/>
          <a:srcRect t="15000" b="15000"/>
          <a:stretch>
            <a:fillRect/>
          </a:stretch>
        </p:blipFill>
        <p:spPr>
          <a:xfrm>
            <a:off x="1397000" y="1358900"/>
            <a:ext cx="215900" cy="1524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rcRect t="15000" b="15000"/>
          <a:stretch>
            <a:fillRect/>
          </a:stretch>
        </p:blipFill>
        <p:spPr>
          <a:xfrm>
            <a:off x="5080000" y="1358900"/>
            <a:ext cx="215900" cy="1524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rcRect t="15000" b="15000"/>
          <a:stretch>
            <a:fillRect/>
          </a:stretch>
        </p:blipFill>
        <p:spPr>
          <a:xfrm>
            <a:off x="8763000" y="1358900"/>
            <a:ext cx="215900" cy="1524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rcRect t="15000" b="15000"/>
          <a:stretch>
            <a:fillRect/>
          </a:stretch>
        </p:blipFill>
        <p:spPr>
          <a:xfrm>
            <a:off x="12458700" y="1358900"/>
            <a:ext cx="215900" cy="152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rcRect t="15000" b="15000"/>
          <a:stretch>
            <a:fillRect/>
          </a:stretch>
        </p:blipFill>
        <p:spPr>
          <a:xfrm>
            <a:off x="1397000" y="6438900"/>
            <a:ext cx="2159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1000" r="1000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247900"/>
            <a:ext cx="14490700" cy="4851400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5" name="AutoShape 5"/>
          <p:cNvSpPr/>
          <p:nvPr/>
        </p:nvSpPr>
        <p:spPr>
          <a:xfrm>
            <a:off x="876300" y="2247900"/>
            <a:ext cx="4660900" cy="48514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6" name="AutoShape 6"/>
          <p:cNvSpPr/>
          <p:nvPr/>
        </p:nvSpPr>
        <p:spPr>
          <a:xfrm>
            <a:off x="2832100" y="2501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7" name="AutoShape 7"/>
          <p:cNvSpPr/>
          <p:nvPr/>
        </p:nvSpPr>
        <p:spPr>
          <a:xfrm>
            <a:off x="5791200" y="2247900"/>
            <a:ext cx="4660900" cy="48514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8" name="AutoShape 8"/>
          <p:cNvSpPr/>
          <p:nvPr/>
        </p:nvSpPr>
        <p:spPr>
          <a:xfrm>
            <a:off x="7747000" y="2501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9" name="AutoShape 9"/>
          <p:cNvSpPr/>
          <p:nvPr/>
        </p:nvSpPr>
        <p:spPr>
          <a:xfrm>
            <a:off x="10706100" y="2247900"/>
            <a:ext cx="4660900" cy="4851400"/>
          </a:xfrm>
          <a:prstGeom prst="rect">
            <a:avLst/>
          </a:prstGeom>
          <a:solidFill>
            <a:srgbClr val="4054C7">
              <a:alpha val="74902"/>
            </a:srgbClr>
          </a:solidFill>
        </p:spPr>
      </p:sp>
      <p:sp>
        <p:nvSpPr>
          <p:cNvPr id="10" name="AutoShape 10"/>
          <p:cNvSpPr/>
          <p:nvPr/>
        </p:nvSpPr>
        <p:spPr>
          <a:xfrm>
            <a:off x="12661900" y="25019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93A5FF"/>
          </a:solidFill>
        </p:spPr>
      </p:sp>
      <p:sp>
        <p:nvSpPr>
          <p:cNvPr id="11" name="TextBox 11"/>
          <p:cNvSpPr txBox="1"/>
          <p:nvPr/>
        </p:nvSpPr>
        <p:spPr>
          <a:xfrm>
            <a:off x="876300" y="1358900"/>
            <a:ext cx="144907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FFFF"/>
                </a:solidFill>
                <a:latin typeface="Poppins"/>
              </a:rPr>
              <a:t>Acknowledgments &amp; Gratitude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30300" y="3505200"/>
            <a:ext cx="41529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Academic Supervision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45200" y="35052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Institutional Support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60100" y="3505200"/>
            <a:ext cx="41529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20000"/>
              </a:lnSpc>
              <a:defRPr/>
            </a:pPr>
            <a:r>
              <a:rPr lang="en-US" sz="2900" b="1">
                <a:solidFill>
                  <a:srgbClr val="FFFFFF"/>
                </a:solidFill>
                <a:latin typeface="Poppins"/>
              </a:rPr>
              <a:t>Project Team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30300" y="4584700"/>
            <a:ext cx="41529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Dr. Marwa Al-Fayez for invaluable guidance, mentorship, and technical expertise throughout the project development and research phases.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45200" y="4140200"/>
            <a:ext cx="4152900" cy="264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Al-Zaytoonah University of Jordan, Artificial Intelligence Department for providing resources, computing facilities, and academic infrastructure essential for the project's success.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60100" y="4140200"/>
            <a:ext cx="4152900" cy="264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Abedalrhman Mohammed (202320494), Abdallah Abu Odeh (202120514), Hamza Abu Alhaija (202120994), Waleed Altawati (202010296) for their dedicated collaboration and commitment to excellence.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76300" y="7391400"/>
            <a:ext cx="144907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Thank You for Your Attention | Questions?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rcRect t="11000" b="11000"/>
          <a:stretch>
            <a:fillRect/>
          </a:stretch>
        </p:blipFill>
        <p:spPr>
          <a:xfrm>
            <a:off x="3048000" y="2755900"/>
            <a:ext cx="304800" cy="241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0" y="2755900"/>
            <a:ext cx="241300" cy="2413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5"/>
          <a:srcRect t="11000" b="11000"/>
          <a:stretch>
            <a:fillRect/>
          </a:stretch>
        </p:blipFill>
        <p:spPr>
          <a:xfrm>
            <a:off x="12877800" y="2755900"/>
            <a:ext cx="304800" cy="241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1417</Words>
  <Application>Microsoft Office PowerPoint</Application>
  <PresentationFormat>Custom</PresentationFormat>
  <Paragraphs>242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Home</dc:creator>
  <cp:lastModifiedBy>Home</cp:lastModifiedBy>
  <cp:revision>3</cp:revision>
  <dcterms:created xsi:type="dcterms:W3CDTF">2006-08-16T00:00:00Z</dcterms:created>
  <dcterms:modified xsi:type="dcterms:W3CDTF">2026-01-09T20:12:12Z</dcterms:modified>
</cp:coreProperties>
</file>